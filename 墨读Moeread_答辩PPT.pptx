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0="http://schemas.openxmlformats.org/wordprocessingml/2006/main" sz="5400" b="1" ns0:eastAsia="微软雅黑">
                <a:solidFill>
                  <a:srgbClr val="D97706"/>
                </a:solidFill>
                <a:latin typeface="微软雅黑"/>
              </a:rPr>
              <a:t>墨读 Moeread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="http://schemas.openxmlformats.org/wordprocessingml/2006/main" sz="2400" b="0" ns1:eastAsia="微软雅黑">
                <a:solidFill>
                  <a:srgbClr val="3D2E1A"/>
                </a:solidFill>
                <a:latin typeface="微软雅黑"/>
              </a:rPr>
              <a:t>个人小说阅读器 Web 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57607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="http://schemas.openxmlformats.org/wordprocessingml/2006/main" sz="2000" b="1" ns2:eastAsia="微软雅黑">
                <a:solidFill>
                  <a:srgbClr val="3D2E1A"/>
                </a:solidFill>
                <a:latin typeface="微软雅黑"/>
              </a:rPr>
              <a:t>Java Web 开发基础  课程设计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1400" b="0" ns3:eastAsia="微软雅黑">
                <a:solidFill>
                  <a:srgbClr val="78350F"/>
                </a:solidFill>
                <a:latin typeface="微软雅黑"/>
              </a:rPr>
              <a:t>学生姓名：___________    学号：___________    专业班级：___________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400" b="0" ns4:eastAsia="微软雅黑">
                <a:solidFill>
                  <a:srgbClr val="78350F"/>
                </a:solidFill>
                <a:latin typeface="微软雅黑"/>
              </a:rPr>
              <a:t>指导教师：___________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微软雅黑">
                <a:solidFill>
                  <a:srgbClr val="FFFFFF"/>
                </a:solidFill>
                <a:latin typeface="微软雅黑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0" ns1:eastAsia="微软雅黑">
                <a:solidFill>
                  <a:srgbClr val="FFFBEB"/>
                </a:solidFill>
                <a:latin typeface="微软雅黑"/>
              </a:rPr>
              <a:t>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2000" b="0" ns2:eastAsia="微软雅黑">
                <a:solidFill>
                  <a:srgbClr val="3D2E1A"/>
                </a:solidFill>
                <a:latin typeface="微软雅黑"/>
              </a:rPr>
              <a:t>1.  项目简介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2000" b="0" ns3:eastAsia="微软雅黑">
                <a:solidFill>
                  <a:srgbClr val="3D2E1A"/>
                </a:solidFill>
                <a:latin typeface="微软雅黑"/>
              </a:rPr>
              <a:t>2.  需求分析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2000" b="0" ns4:eastAsia="微软雅黑">
                <a:solidFill>
                  <a:srgbClr val="3D2E1A"/>
                </a:solidFill>
                <a:latin typeface="微软雅黑"/>
              </a:rPr>
              <a:t>3.  技术架构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2000" b="0" ns5:eastAsia="微软雅黑">
                <a:solidFill>
                  <a:srgbClr val="3D2E1A"/>
                </a:solidFill>
                <a:latin typeface="微软雅黑"/>
              </a:rPr>
              <a:t>4.  数据库设计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2000" b="0" ns6:eastAsia="微软雅黑">
                <a:solidFill>
                  <a:srgbClr val="3D2E1A"/>
                </a:solidFill>
                <a:latin typeface="微软雅黑"/>
              </a:rPr>
              <a:t>5.  功能模块实现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2000" b="0" ns7:eastAsia="微软雅黑">
                <a:solidFill>
                  <a:srgbClr val="3D2E1A"/>
                </a:solidFill>
                <a:latin typeface="微软雅黑"/>
              </a:rPr>
              <a:t>6.  系统测试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2000" b="0" ns8:eastAsia="微软雅黑">
                <a:solidFill>
                  <a:srgbClr val="3D2E1A"/>
                </a:solidFill>
                <a:latin typeface="微软雅黑"/>
              </a:rPr>
              <a:t>7.  总结与展望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900" b="0" ns9:eastAsia="微软雅黑">
                <a:solidFill>
                  <a:srgbClr val="6B7280"/>
                </a:solidFill>
                <a:latin typeface="微软雅黑"/>
              </a:rPr>
              <a:t>墨读 Moeread  ·  Java Web 课程设计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0="http://schemas.openxmlformats.org/wordprocessingml/2006/main" sz="900" b="0" ns10:eastAsia="微软雅黑">
                <a:solidFill>
                  <a:srgbClr val="6B7280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微软雅黑">
                <a:solidFill>
                  <a:srgbClr val="FFFFFF"/>
                </a:solidFill>
                <a:latin typeface="微软雅黑"/>
              </a:rPr>
              <a:t>一、项目简介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0" ns1:eastAsia="微软雅黑">
                <a:solidFill>
                  <a:srgbClr val="FFFBEB"/>
                </a:solidFill>
                <a:latin typeface="微软雅黑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500" b="0" ns2:eastAsia="微软雅黑">
                <a:solidFill>
                  <a:srgbClr val="3D2E1A"/>
                </a:solidFill>
                <a:latin typeface="微软雅黑"/>
              </a:rPr>
              <a:t>墨读（Moeread）是一款基于 Java Web 技术栈开发的
个人小说阅读器 Web 应用。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500" b="0" ns3:eastAsia="微软雅黑">
                <a:solidFill>
                  <a:srgbClr val="3D2E1A"/>
                </a:solidFill>
                <a:latin typeface="微软雅黑"/>
              </a:rPr>
              <a:t>选题区别于常见电商/视频类大作业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500" b="0" ns4:eastAsia="微软雅黑">
                <a:solidFill>
                  <a:srgbClr val="3D2E1A"/>
                </a:solidFill>
                <a:latin typeface="微软雅黑"/>
              </a:rPr>
              <a:t>支持 TXT / ZIP 批量导入小说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500" b="0" ns5:eastAsia="微软雅黑">
                <a:solidFill>
                  <a:srgbClr val="3D2E1A"/>
                </a:solidFill>
                <a:latin typeface="微软雅黑"/>
              </a:rPr>
              <a:t>在线阅读 + 进度自动保存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0896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500" b="0" ns6:eastAsia="微软雅黑">
                <a:solidFill>
                  <a:srgbClr val="3D2E1A"/>
                </a:solidFill>
                <a:latin typeface="微软雅黑"/>
              </a:rPr>
              <a:t>阅读数据统计（GitHub 风格热力图）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7472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500" b="0" ns7:eastAsia="微软雅黑">
                <a:solidFill>
                  <a:srgbClr val="3D2E1A"/>
                </a:solidFill>
                <a:latin typeface="微软雅黑"/>
              </a:rPr>
              <a:t>摸鱼模式：VS Code 伪装界面 ⭐ 创意亮点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048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500" b="0" ns8:eastAsia="微软雅黑">
                <a:solidFill>
                  <a:srgbClr val="3D2E1A"/>
                </a:solidFill>
                <a:latin typeface="微软雅黑"/>
              </a:rPr>
              <a:t>全局背景自定义 ⭐ 创意亮点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188720"/>
            <a:ext cx="4846320" cy="50292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600" b="1" ns9:eastAsia="微软雅黑">
                <a:solidFill>
                  <a:srgbClr val="D97706"/>
                </a:solidFill>
                <a:latin typeface="微软雅黑"/>
              </a:rPr>
              <a:t>⭐  项目特色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74519"/>
            <a:ext cx="4690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300" b="0" ns10:eastAsia="微软雅黑">
                <a:solidFill>
                  <a:srgbClr val="3D2E1A"/>
                </a:solidFill>
                <a:latin typeface="微软雅黑"/>
              </a:rPr>
              <a:t>摸鱼模式（VS Code 伪装）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21991"/>
            <a:ext cx="4690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300" b="0" ns11:eastAsia="微软雅黑">
                <a:solidFill>
                  <a:srgbClr val="3D2E1A"/>
                </a:solidFill>
                <a:latin typeface="微软雅黑"/>
              </a:rPr>
              <a:t>智能章节识别（Legado 26 条规则）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569463"/>
            <a:ext cx="4690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300" b="0" ns12:eastAsia="微软雅黑">
                <a:solidFill>
                  <a:srgbClr val="3D2E1A"/>
                </a:solidFill>
                <a:latin typeface="微软雅黑"/>
              </a:rPr>
              <a:t>GitHub 风格阅读热力图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916935"/>
            <a:ext cx="4690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300" b="0" ns13:eastAsia="微软雅黑">
                <a:solidFill>
                  <a:srgbClr val="3D2E1A"/>
                </a:solidFill>
                <a:latin typeface="微软雅黑"/>
              </a:rPr>
              <a:t>全局背景自定义（参考 VS Code Background 插件）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900" b="0" ns14:eastAsia="微软雅黑">
                <a:solidFill>
                  <a:srgbClr val="6B7280"/>
                </a:solidFill>
                <a:latin typeface="微软雅黑"/>
              </a:rPr>
              <a:t>墨读 Moeread  ·  Java Web 课程设计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5="http://schemas.openxmlformats.org/wordprocessingml/2006/main" sz="900" b="0" ns15:eastAsia="微软雅黑">
                <a:solidFill>
                  <a:srgbClr val="6B7280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微软雅黑">
                <a:solidFill>
                  <a:srgbClr val="FFFFFF"/>
                </a:solidFill>
                <a:latin typeface="微软雅黑"/>
              </a:rPr>
              <a:t>二、技术架构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0" ns1:eastAsia="微软雅黑">
                <a:solidFill>
                  <a:srgbClr val="FFFBEB"/>
                </a:solidFill>
                <a:latin typeface="微软雅黑"/>
              </a:rPr>
              <a:t>Technical Architecture (MVC)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005840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800" b="1" ns2:eastAsia="微软雅黑">
                <a:solidFill>
                  <a:srgbClr val="3D2E1A"/>
                </a:solidFill>
                <a:latin typeface="微软雅黑"/>
              </a:rPr>
              <a:t>View 视图层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300" b="0" ns3:eastAsia="微软雅黑">
                <a:solidFill>
                  <a:srgbClr val="3D2E1A"/>
                </a:solidFill>
                <a:latin typeface="微软雅黑"/>
              </a:rPr>
              <a:t>JSP + CSS + JavaScript（原生）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058400" cy="1097280"/>
          </a:xfrm>
          <a:prstGeom prst="rect">
            <a:avLst/>
          </a:prstGeom>
          <a:solidFill>
            <a:srgbClr val="F59E0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800" b="1" ns4:eastAsia="微软雅黑">
                <a:solidFill>
                  <a:srgbClr val="FFFFFF"/>
                </a:solidFill>
                <a:latin typeface="微软雅黑"/>
              </a:rPr>
              <a:t>Controller 控制层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300" b="0" ns5:eastAsia="微软雅黑">
                <a:solidFill>
                  <a:srgbClr val="FFFFFF"/>
                </a:solidFill>
                <a:latin typeface="微软雅黑"/>
              </a:rPr>
              <a:t>Servlet（Login / Import / Reader / Home / Stats / Settings）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solidFill>
            <a:srgbClr val="D977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800" b="1" ns6:eastAsia="微软雅黑">
                <a:solidFill>
                  <a:srgbClr val="FFFFFF"/>
                </a:solidFill>
                <a:latin typeface="微软雅黑"/>
              </a:rPr>
              <a:t>Model 模型层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300" b="0" ns7:eastAsia="微软雅黑">
                <a:solidFill>
                  <a:srgbClr val="FFFFFF"/>
                </a:solidFill>
                <a:latin typeface="微软雅黑"/>
              </a:rPr>
              <a:t>JavaBean（User / Book / Chapter）+ DAO + JDBC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300" b="1" ns8:eastAsia="微软雅黑">
                <a:solidFill>
                  <a:srgbClr val="78350F"/>
                </a:solidFill>
                <a:latin typeface="微软雅黑"/>
              </a:rPr>
              <a:t>核心技术栈：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9496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100" b="1" ns9:eastAsia="微软雅黑">
                <a:solidFill>
                  <a:srgbClr val="FFFFFF"/>
                </a:solidFill>
                <a:latin typeface="微软雅黑"/>
              </a:rPr>
              <a:t>JSP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539496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100" b="1" ns10:eastAsia="微软雅黑">
                <a:solidFill>
                  <a:srgbClr val="FFFFFF"/>
                </a:solidFill>
                <a:latin typeface="微软雅黑"/>
              </a:rPr>
              <a:t>Servlet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539496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100" b="1" ns11:eastAsia="微软雅黑">
                <a:solidFill>
                  <a:srgbClr val="FFFFFF"/>
                </a:solidFill>
                <a:latin typeface="微软雅黑"/>
              </a:rPr>
              <a:t>JavaBean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539496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100" b="1" ns12:eastAsia="微软雅黑">
                <a:solidFill>
                  <a:srgbClr val="FFFFFF"/>
                </a:solidFill>
                <a:latin typeface="微软雅黑"/>
              </a:rPr>
              <a:t>JDBC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39496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3="http://schemas.openxmlformats.org/wordprocessingml/2006/main" sz="1100" b="1" ns13:eastAsia="微软雅黑">
                <a:solidFill>
                  <a:srgbClr val="FFFFFF"/>
                </a:solidFill>
                <a:latin typeface="微软雅黑"/>
              </a:rPr>
              <a:t>DAO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539496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1100" b="1" ns14:eastAsia="微软雅黑">
                <a:solidFill>
                  <a:srgbClr val="FFFFFF"/>
                </a:solidFill>
                <a:latin typeface="微软雅黑"/>
              </a:rPr>
              <a:t>MVC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539496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100" b="1" ns15:eastAsia="微软雅黑">
                <a:solidFill>
                  <a:srgbClr val="FFFFFF"/>
                </a:solidFill>
                <a:latin typeface="微软雅黑"/>
              </a:rPr>
              <a:t>MySQL 8.0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5394960"/>
            <a:ext cx="11887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5431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1100" b="1" ns16:eastAsia="微软雅黑">
                <a:solidFill>
                  <a:srgbClr val="FFFFFF"/>
                </a:solidFill>
                <a:latin typeface="微软雅黑"/>
              </a:rPr>
              <a:t>Tomcat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900" b="0" ns17:eastAsia="微软雅黑">
                <a:solidFill>
                  <a:srgbClr val="6B7280"/>
                </a:solidFill>
                <a:latin typeface="微软雅黑"/>
              </a:rPr>
              <a:t>墨读 Moeread  ·  Java Web 课程设计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455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8="http://schemas.openxmlformats.org/wordprocessingml/2006/main" sz="900" b="0" ns18:eastAsia="微软雅黑">
                <a:solidFill>
                  <a:srgbClr val="6B7280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微软雅黑">
                <a:solidFill>
                  <a:srgbClr val="FFFFFF"/>
                </a:solidFill>
                <a:latin typeface="微软雅黑"/>
              </a:rPr>
              <a:t>三、数据库设计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0" ns1:eastAsia="微软雅黑">
                <a:solidFill>
                  <a:srgbClr val="FFFBEB"/>
                </a:solidFill>
                <a:latin typeface="微软雅黑"/>
              </a:rPr>
              <a:t>Database Design（6 张表）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300" b="0" ns2:eastAsia="微软雅黑">
                <a:solidFill>
                  <a:srgbClr val="78350F"/>
                </a:solidFill>
                <a:latin typeface="微软雅黑"/>
              </a:rPr>
              <a:t>数据库名：moeread，共 6 张表，各表之间通过外键关联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56616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600" b="1" ns3:eastAsia="微软雅黑">
                <a:solidFill>
                  <a:srgbClr val="D97706"/>
                </a:solidFill>
                <a:latin typeface="微软雅黑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200" b="0" ns4:eastAsia="微软雅黑">
                <a:solidFill>
                  <a:srgbClr val="3D2E1A"/>
                </a:solidFill>
                <a:latin typeface="微软雅黑"/>
              </a:rPr>
              <a:t>用户信息 + 个性化设置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100" b="0" ns5:eastAsia="微软雅黑">
                <a:solidFill>
                  <a:srgbClr val="6B7280"/>
                </a:solidFill>
                <a:latin typeface="微软雅黑"/>
              </a:rPr>
              <a:t>字段数：11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00200"/>
            <a:ext cx="356616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600" b="1" ns6:eastAsia="微软雅黑">
                <a:solidFill>
                  <a:srgbClr val="D97706"/>
                </a:solidFill>
                <a:latin typeface="微软雅黑"/>
              </a:rPr>
              <a:t>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945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200" b="0" ns7:eastAsia="微软雅黑">
                <a:solidFill>
                  <a:srgbClr val="3D2E1A"/>
                </a:solidFill>
                <a:latin typeface="微软雅黑"/>
              </a:rPr>
              <a:t>书籍元信息（书名/作者/封面路径）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100" b="0" ns8:eastAsia="微软雅黑">
                <a:solidFill>
                  <a:srgbClr val="6B7280"/>
                </a:solidFill>
                <a:latin typeface="微软雅黑"/>
              </a:rPr>
              <a:t>字段数：9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356616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600" b="1" ns9:eastAsia="微软雅黑">
                <a:solidFill>
                  <a:srgbClr val="D97706"/>
                </a:solidFill>
                <a:latin typeface="微软雅黑"/>
              </a:rPr>
              <a:t>chapters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1945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200" b="0" ns10:eastAsia="微软雅黑">
                <a:solidFill>
                  <a:srgbClr val="3D2E1A"/>
                </a:solidFill>
                <a:latin typeface="微软雅黑"/>
              </a:rPr>
              <a:t>章节内容（与 books 一对多）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100" b="0" ns11:eastAsia="微软雅黑">
                <a:solidFill>
                  <a:srgbClr val="6B7280"/>
                </a:solidFill>
                <a:latin typeface="微软雅黑"/>
              </a:rPr>
              <a:t>字段数：5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56616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044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600" b="1" ns12:eastAsia="微软雅黑">
                <a:solidFill>
                  <a:srgbClr val="D97706"/>
                </a:solidFill>
                <a:latin typeface="微软雅黑"/>
              </a:rPr>
              <a:t>read_progress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200" b="0" ns13:eastAsia="微软雅黑">
                <a:solidFill>
                  <a:srgbClr val="3D2E1A"/>
                </a:solidFill>
                <a:latin typeface="微软雅黑"/>
              </a:rPr>
              <a:t>阅读进度（user_id + book_id 联合标识）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100" b="0" ns14:eastAsia="微软雅黑">
                <a:solidFill>
                  <a:srgbClr val="6B7280"/>
                </a:solidFill>
                <a:latin typeface="微软雅黑"/>
              </a:rPr>
              <a:t>字段数：6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94760"/>
            <a:ext cx="356616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9044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600" b="1" ns15:eastAsia="微软雅黑">
                <a:solidFill>
                  <a:srgbClr val="D97706"/>
                </a:solidFill>
                <a:latin typeface="微软雅黑"/>
              </a:rPr>
              <a:t>reading_stats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200" b="0" ns16:eastAsia="微软雅黑">
                <a:solidFill>
                  <a:srgbClr val="3D2E1A"/>
                </a:solidFill>
                <a:latin typeface="微软雅黑"/>
              </a:rPr>
              <a:t>每日阅读统计（热力图数据源）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1100" b="0" ns17:eastAsia="微软雅黑">
                <a:solidFill>
                  <a:srgbClr val="6B7280"/>
                </a:solidFill>
                <a:latin typeface="微软雅黑"/>
              </a:rPr>
              <a:t>字段数：5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794760"/>
            <a:ext cx="3566160" cy="19202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9044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1600" b="1" ns18:eastAsia="微软雅黑">
                <a:solidFill>
                  <a:srgbClr val="D97706"/>
                </a:solidFill>
                <a:latin typeface="微软雅黑"/>
              </a:rPr>
              <a:t>book_tags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3891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9="http://schemas.openxmlformats.org/wordprocessingml/2006/main" sz="1200" b="0" ns19:eastAsia="微软雅黑">
                <a:solidFill>
                  <a:srgbClr val="3D2E1A"/>
                </a:solidFill>
                <a:latin typeface="微软雅黑"/>
              </a:rPr>
              <a:t>书籍标签（系统标签 + 自定义标签）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0="http://schemas.openxmlformats.org/wordprocessingml/2006/main" sz="1100" b="0" ns20:eastAsia="微软雅黑">
                <a:solidFill>
                  <a:srgbClr val="6B7280"/>
                </a:solidFill>
                <a:latin typeface="微软雅黑"/>
              </a:rPr>
              <a:t>字段数：3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1="http://schemas.openxmlformats.org/wordprocessingml/2006/main" sz="900" b="0" ns21:eastAsia="微软雅黑">
                <a:solidFill>
                  <a:srgbClr val="6B7280"/>
                </a:solidFill>
                <a:latin typeface="微软雅黑"/>
              </a:rPr>
              <a:t>墨读 Moeread  ·  Java Web 课程设计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455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2="http://schemas.openxmlformats.org/wordprocessingml/2006/main" sz="900" b="0" ns22:eastAsia="微软雅黑">
                <a:solidFill>
                  <a:srgbClr val="6B7280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微软雅黑">
                <a:solidFill>
                  <a:srgbClr val="FFFFFF"/>
                </a:solidFill>
                <a:latin typeface="微软雅黑"/>
              </a:rPr>
              <a:t>四、功能模块实现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0" ns1:eastAsia="微软雅黑">
                <a:solidFill>
                  <a:srgbClr val="FFFBEB"/>
                </a:solidFill>
                <a:latin typeface="微软雅黑"/>
              </a:rPr>
              <a:t>Module Implementation（8 个模块）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651760" cy="2103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500" b="1" ns2:eastAsia="微软雅黑">
                <a:solidFill>
                  <a:srgbClr val="3D2E1A"/>
                </a:solidFill>
                <a:latin typeface="微软雅黑"/>
              </a:rPr>
              <a:t>1. 用户管理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200" b="0" ns3:eastAsia="微软雅黑">
                <a:solidFill>
                  <a:srgbClr val="3D2E1A"/>
                </a:solidFill>
                <a:latin typeface="微软雅黑"/>
              </a:rPr>
              <a:t>注册 / 登录 / Session 会话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88720"/>
            <a:ext cx="2651760" cy="2103120"/>
          </a:xfrm>
          <a:prstGeom prst="rect">
            <a:avLst/>
          </a:prstGeom>
          <a:solidFill>
            <a:srgbClr val="F59E0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500" b="1" ns4:eastAsia="微软雅黑">
                <a:solidFill>
                  <a:srgbClr val="FFFFFF"/>
                </a:solidFill>
                <a:latin typeface="微软雅黑"/>
              </a:rPr>
              <a:t>2. 书籍导入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200" b="0" ns5:eastAsia="微软雅黑">
                <a:solidFill>
                  <a:srgbClr val="FFFFFF"/>
                </a:solidFill>
                <a:latin typeface="微软雅黑"/>
              </a:rPr>
              <a:t>TXT 单文件 / ZIP 批量 + Legado 章节识别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2651760" cy="2103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500" b="1" ns6:eastAsia="微软雅黑">
                <a:solidFill>
                  <a:srgbClr val="3D2E1A"/>
                </a:solidFill>
                <a:latin typeface="微软雅黑"/>
              </a:rPr>
              <a:t>3. 书架管理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874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200" b="0" ns7:eastAsia="微软雅黑">
                <a:solidFill>
                  <a:srgbClr val="3D2E1A"/>
                </a:solidFill>
                <a:latin typeface="微软雅黑"/>
              </a:rPr>
              <a:t>网格/分组视图 + 标签 + 搜索 + 封面编辑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188720"/>
            <a:ext cx="2651760" cy="2103120"/>
          </a:xfrm>
          <a:prstGeom prst="rect">
            <a:avLst/>
          </a:prstGeom>
          <a:solidFill>
            <a:srgbClr val="F59E0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500" b="1" ns8:eastAsia="微软雅黑">
                <a:solidFill>
                  <a:srgbClr val="FFFFFF"/>
                </a:solidFill>
                <a:latin typeface="微软雅黑"/>
              </a:rPr>
              <a:t>4. 在线阅读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74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1200" b="0" ns9:eastAsia="微软雅黑">
                <a:solidFill>
                  <a:srgbClr val="FFFFFF"/>
                </a:solidFill>
                <a:latin typeface="微软雅黑"/>
              </a:rPr>
              <a:t>章节侧栏 + 字号/行距/主题 + 进度自动保存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2651760" cy="2103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0="http://schemas.openxmlformats.org/wordprocessingml/2006/main" sz="1500" b="1" ns10:eastAsia="微软雅黑">
                <a:solidFill>
                  <a:srgbClr val="3D2E1A"/>
                </a:solidFill>
                <a:latin typeface="微软雅黑"/>
              </a:rPr>
              <a:t>5. 摸鱼模式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51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1="http://schemas.openxmlformats.org/wordprocessingml/2006/main" sz="1200" b="0" ns11:eastAsia="微软雅黑">
                <a:solidFill>
                  <a:srgbClr val="3D2E1A"/>
                </a:solidFill>
                <a:latin typeface="微软雅黑"/>
              </a:rPr>
              <a:t>VS Code 伪装 + 深色/浅色主题 + Alt 翻页 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566160"/>
            <a:ext cx="2651760" cy="2103120"/>
          </a:xfrm>
          <a:prstGeom prst="rect">
            <a:avLst/>
          </a:prstGeom>
          <a:solidFill>
            <a:srgbClr val="F59E0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2="http://schemas.openxmlformats.org/wordprocessingml/2006/main" sz="1500" b="1" ns12:eastAsia="微软雅黑">
                <a:solidFill>
                  <a:srgbClr val="FFFFFF"/>
                </a:solidFill>
                <a:latin typeface="微软雅黑"/>
              </a:rPr>
              <a:t>6. 首页仪表盘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251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3="http://schemas.openxmlformats.org/wordprocessingml/2006/main" sz="1200" b="0" ns13:eastAsia="微软雅黑">
                <a:solidFill>
                  <a:srgbClr val="FFFFFF"/>
                </a:solidFill>
                <a:latin typeface="微软雅黑"/>
              </a:rPr>
              <a:t>今日阅读环 + 推荐 + 最近在读 + 喜爱书籍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566160"/>
            <a:ext cx="2651760" cy="21031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4="http://schemas.openxmlformats.org/wordprocessingml/2006/main" sz="1500" b="1" ns14:eastAsia="微软雅黑">
                <a:solidFill>
                  <a:srgbClr val="3D2E1A"/>
                </a:solidFill>
                <a:latin typeface="微软雅黑"/>
              </a:rPr>
              <a:t>7. 阅读统计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251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5="http://schemas.openxmlformats.org/wordprocessingml/2006/main" sz="1200" b="0" ns15:eastAsia="微软雅黑">
                <a:solidFill>
                  <a:srgbClr val="3D2E1A"/>
                </a:solidFill>
                <a:latin typeface="微软雅黑"/>
              </a:rPr>
              <a:t>年度热力图 + 概览带 + 阅读习惯面板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3566160"/>
            <a:ext cx="2651760" cy="2103120"/>
          </a:xfrm>
          <a:prstGeom prst="rect">
            <a:avLst/>
          </a:prstGeom>
          <a:solidFill>
            <a:srgbClr val="F59E0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6="http://schemas.openxmlformats.org/wordprocessingml/2006/main" sz="1500" b="1" ns16:eastAsia="微软雅黑">
                <a:solidFill>
                  <a:srgbClr val="FFFFFF"/>
                </a:solidFill>
                <a:latin typeface="微软雅黑"/>
              </a:rPr>
              <a:t>8. 个人设置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251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7="http://schemas.openxmlformats.org/wordprocessingml/2006/main" sz="1200" b="0" ns17:eastAsia="微软雅黑">
                <a:solidFill>
                  <a:srgbClr val="FFFFFF"/>
                </a:solidFill>
                <a:latin typeface="微软雅黑"/>
              </a:rPr>
              <a:t>手风琴布局 + 头像/背景自定义 + 阅读目标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8="http://schemas.openxmlformats.org/wordprocessingml/2006/main" sz="900" b="0" ns18:eastAsia="微软雅黑">
                <a:solidFill>
                  <a:srgbClr val="6B7280"/>
                </a:solidFill>
                <a:latin typeface="微软雅黑"/>
              </a:rPr>
              <a:t>墨读 Moeread  ·  Java Web 课程设计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9="http://schemas.openxmlformats.org/wordprocessingml/2006/main" sz="900" b="0" ns19:eastAsia="微软雅黑">
                <a:solidFill>
                  <a:srgbClr val="6B7280"/>
                </a:solidFill>
                <a:latin typeface="微软雅黑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微软雅黑">
                <a:solidFill>
                  <a:srgbClr val="FFFFFF"/>
                </a:solidFill>
                <a:latin typeface="微软雅黑"/>
              </a:rPr>
              <a:t>⭐  核心亮点：摸鱼模式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0" ns1:eastAsia="微软雅黑">
                <a:solidFill>
                  <a:srgbClr val="FFFBEB"/>
                </a:solidFill>
                <a:latin typeface="微软雅黑"/>
              </a:rPr>
              <a:t>Stealth Mode（VS Code 伪装）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ns2:eastAsia="微软雅黑">
                <a:solidFill>
                  <a:srgbClr val="3D2E1A"/>
                </a:solidFill>
                <a:latin typeface="微软雅黑"/>
              </a:rPr>
              <a:t>将阅读内容伪装成 VS Code 编辑器界面，适合在教室/办公室等场合使用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0" ns3:eastAsia="微软雅黑">
                <a:solidFill>
                  <a:srgbClr val="3D2E1A"/>
                </a:solidFill>
                <a:latin typeface="微软雅黑"/>
              </a:rPr>
              <a:t>顶部标签栏：模拟 VS Code 文件标签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0" ns4:eastAsia="微软雅黑">
                <a:solidFill>
                  <a:srgbClr val="3D2E1A"/>
                </a:solidFill>
                <a:latin typeface="微软雅黑"/>
              </a:rPr>
              <a:t>行号显示：增强代码文件视觉效果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0" ns5:eastAsia="微软雅黑">
                <a:solidFill>
                  <a:srgbClr val="3D2E1A"/>
                </a:solidFill>
                <a:latin typeface="微软雅黑"/>
              </a:rPr>
              <a:t>语法高亮（伪代码化排版）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96896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0" ns6:eastAsia="微软雅黑">
                <a:solidFill>
                  <a:srgbClr val="3D2E1A"/>
                </a:solidFill>
                <a:latin typeface="微软雅黑"/>
              </a:rPr>
              <a:t>深色/浅色主题一键切换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b="0" ns7:eastAsia="微软雅黑">
                <a:solidFill>
                  <a:srgbClr val="3D2E1A"/>
                </a:solidFill>
                <a:latin typeface="微软雅黑"/>
              </a:rPr>
              <a:t>Alt + ←/→ 翻页，ESC 退出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029200" cy="4114800"/>
          </a:xfrm>
          <a:prstGeom prst="rect">
            <a:avLst/>
          </a:prstGeom>
          <a:noFill/>
          <a:ln w="1905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0"/>
                </a:solidFill>
                <a:latin typeface="微软雅黑"/>
              </a:rPr>
              <a:t>【截图：摸鱼模式（深色主题）界面】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900" b="0" ns8:eastAsia="微软雅黑">
                <a:solidFill>
                  <a:srgbClr val="6B7280"/>
                </a:solidFill>
                <a:latin typeface="微软雅黑"/>
              </a:rPr>
              <a:t>墨读 Moeread  ·  Java Web 课程设计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9="http://schemas.openxmlformats.org/wordprocessingml/2006/main" sz="900" b="0" ns9:eastAsia="微软雅黑">
                <a:solidFill>
                  <a:srgbClr val="6B7280"/>
                </a:solidFill>
                <a:latin typeface="微软雅黑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微软雅黑">
                <a:solidFill>
                  <a:srgbClr val="FFFFFF"/>
                </a:solidFill>
                <a:latin typeface="微软雅黑"/>
              </a:rPr>
              <a:t>⭐  核心亮点：全局背景自定义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0" ns1:eastAsia="微软雅黑">
                <a:solidFill>
                  <a:srgbClr val="FFFBEB"/>
                </a:solidFill>
                <a:latin typeface="微软雅黑"/>
              </a:rPr>
              <a:t>Background Customization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0" ns2:eastAsia="微软雅黑">
                <a:solidFill>
                  <a:srgbClr val="3D2E1A"/>
                </a:solidFill>
                <a:latin typeface="微软雅黑"/>
              </a:rPr>
              <a:t>参考 VS Code Background 插件设计，支持上传背景图片并固定于视窗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400" b="0" ns3:eastAsia="微软雅黑">
                <a:solidFill>
                  <a:srgbClr val="3D2E1A"/>
                </a:solidFill>
                <a:latin typeface="微软雅黑"/>
              </a:rPr>
              <a:t>背景图片固定视窗（position: fixed），不随内容滚动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400" b="0" ns4:eastAsia="微软雅黑">
                <a:solidFill>
                  <a:srgbClr val="3D2E1A"/>
                </a:solidFill>
                <a:latin typeface="微软雅黑"/>
              </a:rPr>
              <a:t>支持调节：透明度（滑块 0-100）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400" b="0" ns5:eastAsia="微软雅黑">
                <a:solidFill>
                  <a:srgbClr val="3D2E1A"/>
                </a:solidFill>
                <a:latin typeface="微软雅黑"/>
              </a:rPr>
              <a:t>支持调节：缩放比例（默认 100%）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96896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6="http://schemas.openxmlformats.org/wordprocessingml/2006/main" sz="1400" b="0" ns6:eastAsia="微软雅黑">
                <a:solidFill>
                  <a:srgbClr val="3D2E1A"/>
                </a:solidFill>
                <a:latin typeface="微软雅黑"/>
              </a:rPr>
              <a:t>支持调节：镜像翻转（一键切换）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7="http://schemas.openxmlformats.org/wordprocessingml/2006/main" sz="1400" b="0" ns7:eastAsia="微软雅黑">
                <a:solidFill>
                  <a:srgbClr val="3D2E1A"/>
                </a:solidFill>
                <a:latin typeface="微软雅黑"/>
              </a:rPr>
              <a:t>背景 layer 的 z-index 为 -1，页面内容正常滚动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8="http://schemas.openxmlformats.org/wordprocessingml/2006/main" sz="1400" b="0" ns8:eastAsia="微软雅黑">
                <a:solidFill>
                  <a:srgbClr val="3D2E1A"/>
                </a:solidFill>
                <a:latin typeface="微软雅黑"/>
              </a:rPr>
              <a:t>所有页面共享同一背景（通过 JSP include 实现）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029200" cy="4114800"/>
          </a:xfrm>
          <a:prstGeom prst="rect">
            <a:avLst/>
          </a:prstGeom>
          <a:noFill/>
          <a:ln w="1905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i="1">
                <a:solidFill>
                  <a:srgbClr val="6B7280"/>
                </a:solidFill>
                <a:latin typeface="微软雅黑"/>
              </a:rPr>
              <a:t>【截图：设置页背景自定义面板 + 首页效果】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9="http://schemas.openxmlformats.org/wordprocessingml/2006/main" sz="900" b="0" ns9:eastAsia="微软雅黑">
                <a:solidFill>
                  <a:srgbClr val="6B7280"/>
                </a:solidFill>
                <a:latin typeface="微软雅黑"/>
              </a:rPr>
              <a:t>墨读 Moeread  ·  Java Web 课程设计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455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10="http://schemas.openxmlformats.org/wordprocessingml/2006/main" sz="900" b="0" ns10:eastAsia="微软雅黑">
                <a:solidFill>
                  <a:srgbClr val="6B7280"/>
                </a:solidFill>
                <a:latin typeface="微软雅黑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0="http://schemas.openxmlformats.org/wordprocessingml/2006/main" sz="2800" b="1" ns0:eastAsia="微软雅黑">
                <a:solidFill>
                  <a:srgbClr val="FFFFFF"/>
                </a:solidFill>
                <a:latin typeface="微软雅黑"/>
              </a:rPr>
              <a:t>五、系统测试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400" b="0" ns1:eastAsia="微软雅黑">
                <a:solidFill>
                  <a:srgbClr val="FFFBEB"/>
                </a:solidFill>
                <a:latin typeface="微软雅黑"/>
              </a:rPr>
              <a:t>System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400" b="1" ns2:eastAsia="微软雅黑">
                <a:solidFill>
                  <a:srgbClr val="D97706"/>
                </a:solidFill>
                <a:latin typeface="微软雅黑"/>
              </a:rPr>
              <a:t>功能测试用例（节选）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286000" cy="475488"/>
          </a:xfrm>
          <a:prstGeom prst="rect">
            <a:avLst/>
          </a:prstGeom>
          <a:solidFill>
            <a:srgbClr val="D97706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819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3="http://schemas.openxmlformats.org/wordprocessingml/2006/main" sz="1200" b="1" ns3:eastAsia="微软雅黑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508760"/>
            <a:ext cx="3200400" cy="475488"/>
          </a:xfrm>
          <a:prstGeom prst="rect">
            <a:avLst/>
          </a:prstGeom>
          <a:solidFill>
            <a:srgbClr val="D97706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819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4="http://schemas.openxmlformats.org/wordprocessingml/2006/main" sz="1200" b="1" ns4:eastAsia="微软雅黑">
                <a:solidFill>
                  <a:srgbClr val="FFFFFF"/>
                </a:solidFill>
                <a:latin typeface="微软雅黑"/>
              </a:rPr>
              <a:t>测试点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08760"/>
            <a:ext cx="2286000" cy="475488"/>
          </a:xfrm>
          <a:prstGeom prst="rect">
            <a:avLst/>
          </a:prstGeom>
          <a:solidFill>
            <a:srgbClr val="D97706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5819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5="http://schemas.openxmlformats.org/wordprocessingml/2006/main" sz="1200" b="1" ns5:eastAsia="微软雅黑">
                <a:solidFill>
                  <a:srgbClr val="FFFFFF"/>
                </a:solidFill>
                <a:latin typeface="微软雅黑"/>
              </a:rPr>
              <a:t>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84248"/>
            <a:ext cx="22860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1200" b="0" ns6:eastAsia="微软雅黑">
                <a:solidFill>
                  <a:srgbClr val="3D2E1A"/>
                </a:solidFill>
                <a:latin typeface="微软雅黑"/>
              </a:rPr>
              <a:t>注册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984248"/>
            <a:ext cx="32004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0574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200" b="0" ns7:eastAsia="微软雅黑">
                <a:solidFill>
                  <a:srgbClr val="3D2E1A"/>
                </a:solidFill>
                <a:latin typeface="微软雅黑"/>
              </a:rPr>
              <a:t>用户名已存在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984248"/>
            <a:ext cx="22860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0574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8="http://schemas.openxmlformats.org/wordprocessingml/2006/main" sz="1200" b="0" ns8:eastAsia="微软雅黑">
                <a:solidFill>
                  <a:srgbClr val="3D2E1A"/>
                </a:solidFill>
                <a:latin typeface="微软雅黑"/>
              </a:rPr>
              <a:t>✅ 通过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59736"/>
            <a:ext cx="22860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532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9="http://schemas.openxmlformats.org/wordprocessingml/2006/main" sz="1200" b="0" ns9:eastAsia="微软雅黑">
                <a:solidFill>
                  <a:srgbClr val="3D2E1A"/>
                </a:solidFill>
                <a:latin typeface="微软雅黑"/>
              </a:rPr>
              <a:t>登录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459736"/>
            <a:ext cx="3200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25328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0="http://schemas.openxmlformats.org/wordprocessingml/2006/main" sz="1200" b="0" ns10:eastAsia="微软雅黑">
                <a:solidFill>
                  <a:srgbClr val="3D2E1A"/>
                </a:solidFill>
                <a:latin typeface="微软雅黑"/>
              </a:rPr>
              <a:t>密码错误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459736"/>
            <a:ext cx="22860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532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1="http://schemas.openxmlformats.org/wordprocessingml/2006/main" sz="1200" b="0" ns11:eastAsia="微软雅黑">
                <a:solidFill>
                  <a:srgbClr val="3D2E1A"/>
                </a:solidFill>
                <a:latin typeface="微软雅黑"/>
              </a:rPr>
              <a:t>✅ 通过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35224"/>
            <a:ext cx="22860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083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2="http://schemas.openxmlformats.org/wordprocessingml/2006/main" sz="1200" b="0" ns12:eastAsia="微软雅黑">
                <a:solidFill>
                  <a:srgbClr val="3D2E1A"/>
                </a:solidFill>
                <a:latin typeface="微软雅黑"/>
              </a:rPr>
              <a:t>导入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935224"/>
            <a:ext cx="32004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30083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3="http://schemas.openxmlformats.org/wordprocessingml/2006/main" sz="1200" b="0" ns13:eastAsia="微软雅黑">
                <a:solidFill>
                  <a:srgbClr val="3D2E1A"/>
                </a:solidFill>
                <a:latin typeface="微软雅黑"/>
              </a:rPr>
              <a:t>上传 TXT 文件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935224"/>
            <a:ext cx="22860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30083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4="http://schemas.openxmlformats.org/wordprocessingml/2006/main" sz="1200" b="0" ns14:eastAsia="微软雅黑">
                <a:solidFill>
                  <a:srgbClr val="3D2E1A"/>
                </a:solidFill>
                <a:latin typeface="微软雅黑"/>
              </a:rPr>
              <a:t>✅ 通过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10712"/>
            <a:ext cx="22860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838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5="http://schemas.openxmlformats.org/wordprocessingml/2006/main" sz="1200" b="0" ns15:eastAsia="微软雅黑">
                <a:solidFill>
                  <a:srgbClr val="3D2E1A"/>
                </a:solidFill>
                <a:latin typeface="微软雅黑"/>
              </a:rPr>
              <a:t>阅读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410712"/>
            <a:ext cx="3200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34838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6="http://schemas.openxmlformats.org/wordprocessingml/2006/main" sz="1200" b="0" ns16:eastAsia="微软雅黑">
                <a:solidFill>
                  <a:srgbClr val="3D2E1A"/>
                </a:solidFill>
                <a:latin typeface="微软雅黑"/>
              </a:rPr>
              <a:t>关闭页面重开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410712"/>
            <a:ext cx="22860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4838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7="http://schemas.openxmlformats.org/wordprocessingml/2006/main" sz="1200" b="0" ns17:eastAsia="微软雅黑">
                <a:solidFill>
                  <a:srgbClr val="3D2E1A"/>
                </a:solidFill>
                <a:latin typeface="微软雅黑"/>
              </a:rPr>
              <a:t>✅ 通过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86200"/>
            <a:ext cx="22860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9593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8="http://schemas.openxmlformats.org/wordprocessingml/2006/main" sz="1200" b="0" ns18:eastAsia="微软雅黑">
                <a:solidFill>
                  <a:srgbClr val="3D2E1A"/>
                </a:solidFill>
                <a:latin typeface="微软雅黑"/>
              </a:rPr>
              <a:t>摸鱼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3886200"/>
            <a:ext cx="32004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39593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19="http://schemas.openxmlformats.org/wordprocessingml/2006/main" sz="1200" b="0" ns19:eastAsia="微软雅黑">
                <a:solidFill>
                  <a:srgbClr val="3D2E1A"/>
                </a:solidFill>
                <a:latin typeface="微软雅黑"/>
              </a:rPr>
              <a:t>按 ESC 退出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886200"/>
            <a:ext cx="2286000" cy="475488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9593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0="http://schemas.openxmlformats.org/wordprocessingml/2006/main" sz="1200" b="0" ns20:eastAsia="微软雅黑">
                <a:solidFill>
                  <a:srgbClr val="3D2E1A"/>
                </a:solidFill>
                <a:latin typeface="微软雅黑"/>
              </a:rPr>
              <a:t>✅ 通过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361688"/>
            <a:ext cx="22860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4348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1="http://schemas.openxmlformats.org/wordprocessingml/2006/main" sz="1200" b="0" ns21:eastAsia="微软雅黑">
                <a:solidFill>
                  <a:srgbClr val="3D2E1A"/>
                </a:solidFill>
                <a:latin typeface="微软雅黑"/>
              </a:rPr>
              <a:t>统计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4361688"/>
            <a:ext cx="3200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0" y="44348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2="http://schemas.openxmlformats.org/wordprocessingml/2006/main" sz="1200" b="0" ns22:eastAsia="微软雅黑">
                <a:solidFill>
                  <a:srgbClr val="3D2E1A"/>
                </a:solidFill>
                <a:latin typeface="微软雅黑"/>
              </a:rPr>
              <a:t>查看年度热力图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4361688"/>
            <a:ext cx="22860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44348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23="http://schemas.openxmlformats.org/wordprocessingml/2006/main" sz="1200" b="0" ns23:eastAsia="微软雅黑">
                <a:solidFill>
                  <a:srgbClr val="3D2E1A"/>
                </a:solidFill>
                <a:latin typeface="微软雅黑"/>
              </a:rPr>
              <a:t>✅ 通过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029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4="http://schemas.openxmlformats.org/wordprocessingml/2006/main" sz="1300" b="1" ns24:eastAsia="微软雅黑">
                <a:solidFill>
                  <a:srgbClr val="78350F"/>
                </a:solidFill>
                <a:latin typeface="微软雅黑"/>
              </a:rPr>
              <a:t>兼容性：Chrome / Edge / Firefox 均测试通过 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5="http://schemas.openxmlformats.org/wordprocessingml/2006/main" sz="900" b="0" ns25:eastAsia="微软雅黑">
                <a:solidFill>
                  <a:srgbClr val="6B7280"/>
                </a:solidFill>
                <a:latin typeface="微软雅黑"/>
              </a:rPr>
              <a:t>墨读 Moeread  ·  Java Web 课程设计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74552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xmlns:ns26="http://schemas.openxmlformats.org/wordprocessingml/2006/main" sz="900" b="0" ns26:eastAsia="微软雅黑">
                <a:solidFill>
                  <a:srgbClr val="6B7280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3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0="http://schemas.openxmlformats.org/wordprocessingml/2006/main" sz="4000" b="1" ns0:eastAsia="微软雅黑">
                <a:solidFill>
                  <a:srgbClr val="D97706"/>
                </a:solidFill>
                <a:latin typeface="微软雅黑"/>
              </a:rPr>
              <a:t>总  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1="http://schemas.openxmlformats.org/wordprocessingml/2006/main" sz="1600" b="0" ns1:eastAsia="微软雅黑">
                <a:solidFill>
                  <a:srgbClr val="3D2E1A"/>
                </a:solidFill>
                <a:latin typeface="微软雅黑"/>
              </a:rPr>
              <a:t>✅ 8 个功能模块全部完成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2="http://schemas.openxmlformats.org/wordprocessingml/2006/main" sz="1600" b="0" ns2:eastAsia="微软雅黑">
                <a:solidFill>
                  <a:srgbClr val="3D2E1A"/>
                </a:solidFill>
                <a:latin typeface="微软雅黑"/>
              </a:rPr>
              <a:t>✅ 严格遵循课程要求的 Java Web 基础技术栈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3="http://schemas.openxmlformats.org/wordprocessingml/2006/main" sz="1600" b="0" ns3:eastAsia="微软雅黑">
                <a:solidFill>
                  <a:srgbClr val="3D2E1A"/>
                </a:solidFill>
                <a:latin typeface="微软雅黑"/>
              </a:rPr>
              <a:t>✅ 选题具有创意性，摸鱼模式 + 背景自定义为亮点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4="http://schemas.openxmlformats.org/wordprocessingml/2006/main" sz="1600" b="0" ns4:eastAsia="微软雅黑">
                <a:solidFill>
                  <a:srgbClr val="3D2E1A"/>
                </a:solidFill>
                <a:latin typeface="微软雅黑"/>
              </a:rPr>
              <a:t>✅ 数据库设计规范，6 张表外键关联完整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xmlns:ns5="http://schemas.openxmlformats.org/wordprocessingml/2006/main" sz="1600" b="0" ns5:eastAsia="微软雅黑">
                <a:solidFill>
                  <a:srgbClr val="3D2E1A"/>
                </a:solidFill>
                <a:latin typeface="微软雅黑"/>
              </a:rPr>
              <a:t>⚠️ 后续可改进：密码哈希存储、暗黑模式、封面在线搜索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6="http://schemas.openxmlformats.org/wordprocessingml/2006/main" sz="3600" b="1" ns6:eastAsia="微软雅黑">
                <a:solidFill>
                  <a:srgbClr val="D97706"/>
                </a:solidFill>
                <a:latin typeface="微软雅黑"/>
              </a:rPr>
              <a:t>Q  &amp; 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xmlns:ns7="http://schemas.openxmlformats.org/wordprocessingml/2006/main" sz="1600" b="0" ns7:eastAsia="微软雅黑">
                <a:solidFill>
                  <a:srgbClr val="3D2E1A"/>
                </a:solidFill>
                <a:latin typeface="微软雅黑"/>
              </a:rPr>
              <a:t>感谢老师聆听，请批评指正！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